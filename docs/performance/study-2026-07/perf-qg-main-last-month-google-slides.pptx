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4572000" cy="3657600"/>
          </a:xfrm>
          <a:prstGeom prst="ellipse">
            <a:avLst/>
          </a:prstGeom>
          <a:solidFill>
            <a:srgbClr val="3A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114800" cy="3200400"/>
          </a:xfrm>
          <a:prstGeom prst="ellipse">
            <a:avLst/>
          </a:prstGeom>
          <a:solidFill>
            <a:srgbClr val="12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4572000"/>
            <a:ext cx="4572000" cy="3200400"/>
          </a:xfrm>
          <a:prstGeom prst="ellipse">
            <a:avLst/>
          </a:prstGeom>
          <a:solidFill>
            <a:srgbClr val="2A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02920"/>
            <a:ext cx="347472" cy="347472"/>
          </a:xfrm>
          <a:prstGeom prst="round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02920"/>
            <a:ext cx="7315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FA399"/>
                </a:solidFill>
                <a:latin typeface="Calibri"/>
              </a:rPr>
              <a:t>METAMASK MOBILE  ·  QA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QUALITY GATE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8F0EB"/>
                </a:solidFill>
                <a:latin typeface="Georgia"/>
              </a:rPr>
              <a:t>Performance on </a:t>
            </a:r>
            <a:r>
              <a:rPr sz="5400" b="1">
                <a:solidFill>
                  <a:srgbClr val="F4B860"/>
                </a:solidFill>
                <a:latin typeface="Georgia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8229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8FA399"/>
                </a:solidFill>
                <a:latin typeface="Calibri"/>
              </a:rPr>
              <a:t>A 30-day look at every performance scenario: pass rates, fail rates,
thresholds, and how far failures overshoot the gate.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92040"/>
            <a:ext cx="10881360" cy="13716"/>
          </a:xfrm>
          <a:prstGeom prst="rect">
            <a:avLst/>
          </a:prstGeom>
          <a:solidFill>
            <a:srgbClr val="2A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B860"/>
                </a:solidFill>
                <a:latin typeface="Georgia"/>
              </a:rPr>
              <a:t>Jun 15 – Jul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2026 · UTC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12064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F0EB"/>
                </a:solidFill>
                <a:latin typeface="Georgia"/>
              </a:rPr>
              <a:t>561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57784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completed workflow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F0EB"/>
                </a:solidFill>
                <a:latin typeface="Georgia"/>
              </a:rPr>
              <a:t>20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57784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with 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12064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F0EB"/>
                </a:solidFill>
                <a:latin typeface="Georgia"/>
              </a:rPr>
              <a:t>12,218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57784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QG 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WHAT WE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E8F0EB"/>
                </a:solidFill>
                <a:latin typeface="Georgia"/>
              </a:rPr>
              <a:t>Scope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FA399"/>
                </a:solidFill>
                <a:latin typeface="Calibri"/>
              </a:rPr>
              <a:t>Artifacts from run-performance-e2e.yml on main only. Pass/fail = qualityGates.passed.
Over% = how much the failing step exceeded its threshold (percentOver).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4B860"/>
                </a:solidFill>
                <a:latin typeface="Georgia"/>
              </a:rPr>
              <a:t>30d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Rolling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46888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8F0EB"/>
                </a:solidFill>
                <a:latin typeface="Georgia"/>
              </a:rPr>
              <a:t>561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108960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Completed runs parsed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6B4A"/>
                </a:solidFill>
                <a:latin typeface="Georgia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Scenarios tracked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46888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3DCF8E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108960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Scenario with 100%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73152" cy="201168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4114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Healthy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Calibri"/>
              </a:rPr>
              <a:t>Launch paths stay solid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663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Cold→Login 5.9% fail
Cold→Onboarding 1.3%
Warm→Login 4.3%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73152" cy="201168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4114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6B4A"/>
                </a:solidFill>
                <a:latin typeface="Calibri"/>
              </a:rPr>
              <a:t>Watch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6052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Calibri"/>
              </a:rPr>
              <a:t>Top offenders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60"/>
            <a:ext cx="4663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Import SRP onboarding 59%
Account creation 37%
Unlock after import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FAIL RATE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E8F0EB"/>
                </a:solidFill>
                <a:latin typeface="Georgia"/>
              </a:rPr>
              <a:t>Where quality gates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Sorted by fail %. Primary threshold is the most common failing step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Onboarding Import SRP +50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728216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1728216"/>
            <a:ext cx="6583680" cy="109728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1673352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6B4A"/>
                </a:solidFill>
                <a:latin typeface="Calibri"/>
              </a:rPr>
              <a:t>59.0%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92808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Account creation (fresh)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947672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947672"/>
            <a:ext cx="4117589" cy="109728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1892808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6B4A"/>
                </a:solidFill>
                <a:latin typeface="Calibri"/>
              </a:rPr>
              <a:t>36.9%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12264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Cold Start after import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167128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60" y="2167128"/>
            <a:ext cx="2778536" cy="109728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44200" y="2112264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6B4A"/>
                </a:solidFill>
                <a:latin typeface="Calibri"/>
              </a:rPr>
              <a:t>24.9%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31720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Uniswap connect / edit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386584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23360" y="2386584"/>
            <a:ext cx="2510725" cy="109728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2331720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6B4A"/>
                </a:solidFill>
                <a:latin typeface="Calibri"/>
              </a:rP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511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Import SRP +50 (login)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606040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23360" y="2606040"/>
            <a:ext cx="1595705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2551176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14.3%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70632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Perps add funds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2825496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23360" y="2825496"/>
            <a:ext cx="1551070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2770632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13.9%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990088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Seedless Apple Login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3044952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23360" y="3044952"/>
            <a:ext cx="1272100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2990088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11.4%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09544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Cross-chain swap ETH→SOL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0" y="3264408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23360" y="3264408"/>
            <a:ext cx="1227465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3209544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429000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Seedless Google Login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3483864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23360" y="3483864"/>
            <a:ext cx="959655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3429000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8.6%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64845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Perps open/close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3703320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23360" y="3703320"/>
            <a:ext cx="803432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44200" y="3648456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7.2%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867912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Swap ETH→LINK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23360" y="3922776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023360" y="3922776"/>
            <a:ext cx="736479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44200" y="3867912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6.6%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087368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Predict Deposit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23360" y="4142232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023360" y="4142232"/>
            <a:ext cx="714161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44200" y="4087368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6.4%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306824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Cold Start → Login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23360" y="4361688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23360" y="4361688"/>
            <a:ext cx="658368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44200" y="4306824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5.9%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526280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Warm Start → Login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4581144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023360" y="4581144"/>
            <a:ext cx="479827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44200" y="4526280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4.3%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74573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Warm Start: Login→Wallet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23360" y="4800600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023360" y="4800600"/>
            <a:ext cx="412874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44200" y="4745736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3.7%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4965192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Predict Market Details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5020056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023360" y="5020056"/>
            <a:ext cx="401716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44200" y="4965192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3.6%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184648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Cold Start → Onboarding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23360" y="5239512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023360" y="5239512"/>
            <a:ext cx="145064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44200" y="5184648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1.3%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404104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Aggregated Balance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23360" y="5458968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023360" y="5458968"/>
            <a:ext cx="73152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44200" y="5404104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0.6%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23560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Asset View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23360" y="5678424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023360" y="5678424"/>
            <a:ext cx="73152" cy="109728"/>
          </a:xfrm>
          <a:prstGeom prst="round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44200" y="5623560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0.3%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84301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E8F0EB"/>
                </a:solidFill>
                <a:latin typeface="Calibri"/>
              </a:rPr>
              <a:t>Predict Available Balance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023360" y="5897880"/>
            <a:ext cx="6583680" cy="109728"/>
          </a:xfrm>
          <a:prstGeom prst="roundRect">
            <a:avLst/>
          </a:prstGeom>
          <a:solidFill>
            <a:srgbClr val="1E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44200" y="5843016"/>
            <a:ext cx="914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3DCF8E"/>
                </a:solidFill>
                <a:latin typeface="Calibri"/>
              </a:rPr>
              <a:t>0.0%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E8F0EB"/>
                </a:solidFill>
                <a:latin typeface="Georgia"/>
              </a:rPr>
              <a:t>Highest fail-rate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Pass % · Fail % · Threshold · Mean / mode / median of over% when the gate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20574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1947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6B4A"/>
                </a:solidFill>
                <a:latin typeface="Calibri"/>
              </a:rPr>
              <a:t>59.0%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Onboarding Import SRP +50 (SRP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CF8E"/>
                </a:solidFill>
                <a:latin typeface="Georgia"/>
              </a:rPr>
              <a:t>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THR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1980ms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542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16.3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13.1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783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783080"/>
            <a:ext cx="73152" cy="20574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947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6B4A"/>
                </a:solidFill>
                <a:latin typeface="Calibri"/>
              </a:rPr>
              <a:t>36.9% 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96596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Account creation after fresh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CF8E"/>
                </a:solidFill>
                <a:latin typeface="Georgia"/>
              </a:rPr>
              <a:t>63%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THR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3300ms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651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816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423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92.7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77.7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154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19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95.8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069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069080"/>
            <a:ext cx="73152" cy="20574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23360" y="4233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6B4A"/>
                </a:solidFill>
                <a:latin typeface="Calibri"/>
              </a:rPr>
              <a:t>24.9% 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25196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Cold Start after importing a wallet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CF8E"/>
                </a:solidFill>
                <a:latin typeface="Georgia"/>
              </a:rPr>
              <a:t>75%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THR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2200ms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489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73.2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4.2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37.2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4069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4069080"/>
            <a:ext cx="73152" cy="20574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692640" y="4233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6B4A"/>
                </a:solidFill>
                <a:latin typeface="Calibri"/>
              </a:rPr>
              <a:t>22.5% fail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25196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Uniswap connect / edit accounts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PASS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CF8E"/>
                </a:solidFill>
                <a:latin typeface="Georgia"/>
              </a:rPr>
              <a:t>78%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79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THR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24200ms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493776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10235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F0EB"/>
                </a:solidFill>
                <a:latin typeface="Georgia"/>
              </a:rPr>
              <a:t>494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170.5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79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45.9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5440680"/>
            <a:ext cx="1508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8FA399"/>
                </a:solidFill>
                <a:latin typeface="Calibri"/>
              </a:rPr>
              <a:t>OVER% MED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5605272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B860"/>
                </a:solidFill>
                <a:latin typeface="Georgia"/>
              </a:rPr>
              <a:t>227.5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BRIGHT SPOTS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E8F0EB"/>
                </a:solidFill>
                <a:latin typeface="Georgia"/>
              </a:rPr>
              <a:t>Most reliable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Fail rate under ~6%. Stable quality-gate baselines on 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19476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0%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Predict Available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100%
Thr 5500ms  ·  Obs 716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9476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0.3%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Asset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8036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99.7%
Thr 7150ms  ·  Obs 709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0" y="19476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0.6%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Aggregated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8036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99.4%
Thr 22000ms  ·  Obs 706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51760" y="4096511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1.3%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Cold Start →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98.7%
Thr 4400ms  ·  Obs 715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931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93192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96511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3.6% 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Predict Market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02920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96.4%
Thr 4400ms  ·  Obs 701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931920"/>
            <a:ext cx="73152" cy="1965960"/>
          </a:xfrm>
          <a:prstGeom prst="rect">
            <a:avLst/>
          </a:prstGeom>
          <a:solidFill>
            <a:srgbClr val="3D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0" y="4096511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DCF8E"/>
                </a:solidFill>
                <a:latin typeface="Calibri"/>
              </a:rPr>
              <a:t>5.9% 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434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F0EB"/>
                </a:solidFill>
                <a:latin typeface="Calibri"/>
              </a:rPr>
              <a:t>Cold Start → Login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02920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Pass 94.1%
Thr 4950ms  ·  Obs 715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FAILURE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E8F0EB"/>
                </a:solidFill>
                <a:latin typeface="Georgia"/>
              </a:rPr>
              <a:t>Mean vs mode of over%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949440" cy="109728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B860"/>
                </a:solidFill>
                <a:latin typeface="Calibri"/>
              </a:rPr>
              <a:t>Chronic but mild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Onboarding Import SRP: fail rate 59%, but over% mode is only 5.3% and mean 16.3%. Gates are scraped often by a little — not catastrophic latency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6949440" cy="109728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B860"/>
                </a:solidFill>
                <a:latin typeface="Calibri"/>
              </a:rPr>
              <a:t>Outlier-heavy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Unlock after import: mean over% 73% vs mode 4.2%. Most fails barely miss; a long tail of bad sessions inflates the mean.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6949440" cy="109728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B860"/>
                </a:solidFill>
                <a:latin typeface="Calibri"/>
              </a:rPr>
              <a:t>Consistently slow when it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Account creation: mode 77.7% and median 95.8% over a 3300ms gate. When it fails, it usually fails by nearly 2× — a product/perf issue, not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5448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221C12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B860"/>
                </a:solidFill>
                <a:latin typeface="Georgia"/>
              </a:rPr>
              <a:t>How to read over%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FA399"/>
                </a:solidFill>
                <a:latin typeface="Calibri"/>
              </a:rPr>
              <a:t>Mode ≈ typical failure magnitude.
Mean ≈ pulled up by outliers.
High mean + low mode
⇒ flaky infra / device spikes.
High mean + high mode
⇒ the gate is systematically
too tight for current builds.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APPENDIX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E8F0EB"/>
                </a:solidFill>
                <a:latin typeface="Georgia"/>
              </a:rPr>
              <a:t>All scenarios — fail rates &amp; over%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607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914400"/>
                <a:gridCol w="914400"/>
                <a:gridCol w="1051560"/>
                <a:gridCol w="1280160"/>
                <a:gridCol w="1280160"/>
                <a:gridCol w="1234440"/>
              </a:tblGrid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Obs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Pass%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Fail%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Thr ms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mean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mode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med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Onboarding Import SRP +50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542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41.0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59.0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1980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13.1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Account creation (fresh)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423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63.1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36.9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3300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92.7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77.7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95.8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Cold Start after import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489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75.1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24.9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2200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73.2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37.2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Uniswap connect / edit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494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77.5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22.5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24200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170.5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227.5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Import SRP +50 (login)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14.3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1870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100.2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22.7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Perps add funds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705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86.1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13.9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3850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43.5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27.4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Seedless Apple Login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638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88.6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6600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25.0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17.7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Cross-chain swap ETH→SOL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629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2420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13.0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22.2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Seedless Google Login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641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91.4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5500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27.6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25.2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Perps open/close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415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92.8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15400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18.0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10.9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APPENDIX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E8F0EB"/>
                </a:solidFill>
                <a:latin typeface="Georgia"/>
              </a:rPr>
              <a:t>All scenarios — continued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607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914400"/>
                <a:gridCol w="914400"/>
                <a:gridCol w="1051560"/>
                <a:gridCol w="1280160"/>
                <a:gridCol w="1280160"/>
                <a:gridCol w="1234440"/>
              </a:tblGrid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Obs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Pass%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Fail%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Thr ms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mean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mode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FA399"/>
                          </a:solidFill>
                          <a:latin typeface="Calibri"/>
                        </a:defRPr>
                      </a:pPr>
                      <a:r>
                        <a:t>Over% med</a:t>
                      </a:r>
                    </a:p>
                  </a:txBody>
                  <a:tcPr>
                    <a:solidFill>
                      <a:srgbClr val="12181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Swap ETH→LINK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93.4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6.6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2750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19.8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14.6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Predict Deposit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626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6.4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6600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37.6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33.5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Cold Start → Login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94.1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5.9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4950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39.3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106.5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20.9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Warm Start → Login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95.7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3300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383.8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27.5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433.5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Warm Start: Login→Wallet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630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96.3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2750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15.9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4.9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9.4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Predict Market Details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701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4400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30.0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Cold Start → Onboarding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98.7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4400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29.4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30.2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5.5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Aggregated Balance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706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99.4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22000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59.6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139.2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44.6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Asset View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709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99.7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6B4A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7150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Predict Available Balance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716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CF8E"/>
                          </a:solidFill>
                          <a:latin typeface="Calibri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5500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F0E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61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E8F0EB"/>
                </a:solidFill>
                <a:latin typeface="Georgia"/>
              </a:rPr>
              <a:t>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424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B860"/>
                </a:solidFill>
                <a:latin typeface="Calibri"/>
              </a:rPr>
              <a:t>1. Prioritize onboarding import + account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Highest fail rates on main. Account creation overshoots by ~2× when it fails — investigate token-list render after new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424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B860"/>
                </a:solidFill>
                <a:latin typeface="Calibri"/>
              </a:rPr>
              <a:t>2. Unlock after import needs perf work + outlier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25% fail against 2200ms. Mode is tiny (4%); separate “near miss” vs “&gt;7s outlier” cohorts before moving the gate.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0424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B860"/>
                </a:solidFill>
                <a:latin typeface="Calibri"/>
              </a:rPr>
              <a:t>3. Uniswap is expensive when it trips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22.5% fail with thr 24200ms and mean over% 170%. Functional timeouts and QG misses both show up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59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799"/>
            <a:ext cx="10424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B860"/>
                </a:solidFill>
                <a:latin typeface="Calibri"/>
              </a:rPr>
              <a:t>4. Keep launch baselines as the north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Cold→Onboarding, Asset View, Aggregated Balance, Predict Available Balance prove the gate framework can stay green.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6201C"/>
          </a:solidFill>
          <a:ln w="12700">
            <a:solidFill>
              <a:srgbClr val="2A3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79"/>
            <a:ext cx="10424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B860"/>
                </a:solidFill>
                <a:latin typeface="Calibri"/>
              </a:rPr>
              <a:t>5. Watch Seedless / Perps / Predict deposit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Mid-pack fail rates (6–14%). Not urgent like top offenders, but enough volume to catch regressions early.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4572000" cy="3657600"/>
          </a:xfrm>
          <a:prstGeom prst="ellipse">
            <a:avLst/>
          </a:prstGeom>
          <a:solidFill>
            <a:srgbClr val="3A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3657600"/>
          </a:xfrm>
          <a:prstGeom prst="ellipse">
            <a:avLst/>
          </a:prstGeom>
          <a:solidFill>
            <a:srgbClr val="12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347472" cy="347472"/>
          </a:xfrm>
          <a:prstGeom prst="round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502920"/>
            <a:ext cx="7315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FA399"/>
                </a:solidFill>
                <a:latin typeface="Calibri"/>
              </a:rPr>
              <a:t>METAMASK MOBILE  ·  QA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B860"/>
                </a:solidFill>
                <a:latin typeface="Calibri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F0EB"/>
                </a:solidFill>
                <a:latin typeface="Georgia"/>
              </a:rPr>
              <a:t>Gates tell a clear story on </a:t>
            </a:r>
            <a:r>
              <a:rPr sz="4000" b="1">
                <a:solidFill>
                  <a:srgbClr val="F4B860"/>
                </a:solidFill>
                <a:latin typeface="Georgia"/>
              </a:rPr>
              <a:t>main</a:t>
            </a:r>
            <a:r>
              <a:rPr sz="4000" b="1">
                <a:solidFill>
                  <a:srgbClr val="E8F0EB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FA399"/>
                </a:solidFill>
                <a:latin typeface="Calibri"/>
              </a:rPr>
              <a:t>Launch is healthy. Onboarding import, account creation, unlock-after-import,
and Uniswap are where quality gates burn time — and where the next perf wins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881360" cy="13716"/>
          </a:xfrm>
          <a:prstGeom prst="rect">
            <a:avLst/>
          </a:prstGeom>
          <a:solidFill>
            <a:srgbClr val="2A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6B4A"/>
                </a:solidFill>
                <a:latin typeface="Georgia"/>
              </a:rPr>
              <a:t>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worst fail rate (Import SRP)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CF8E"/>
                </a:solidFill>
                <a:latin typeface="Georgia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best pass rate (Predict Balance)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F0EB"/>
                </a:solidFill>
                <a:latin typeface="Georgia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scenarios monitored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F0EB"/>
                </a:solidFill>
                <a:latin typeface="Georgia"/>
              </a:rPr>
              <a:t>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FA399"/>
                </a:solidFill>
                <a:latin typeface="Calibri"/>
              </a:rPr>
              <a:t>of evidence on 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FA399"/>
                </a:solidFill>
                <a:latin typeface="Calibri"/>
              </a:rPr>
              <a:t>MetaMask Mobile · QA Performance  ·  main · last 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FA39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