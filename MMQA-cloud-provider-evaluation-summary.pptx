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20040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EFC"/>
                </a:solidFill>
                <a:latin typeface="Calibri"/>
              </a:rPr>
              <a:t>Cloud provider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DD4BF"/>
                </a:solidFill>
                <a:latin typeface="Calibri"/>
              </a:rPr>
              <a:t>Performance E2E · MetaMask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3A0B8"/>
                </a:solidFill>
                <a:latin typeface="Calibri"/>
              </a:rPr>
              <a:t>BrowserStack vs TestMu HyperExecute vs Sauce Labs
Branch MMQA-TestMu-PoC-HyperExecute · Aug 18–26,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0B8"/>
                </a:solidFill>
                <a:latin typeface="Calibri"/>
              </a:rPr>
              <a:t>QA summary deck · import to Google Slides via File → Import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C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EEFC"/>
                </a:solidFill>
                <a:latin typeface="Calibri"/>
              </a:rPr>
              <a:t>1. Evaluation scope &amp; how we measure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E8EEFC"/>
                </a:solidFill>
                <a:latin typeface="Calibri"/>
              </a:rPr>
              <a:t>2. Weekly vendor scoreboard (Aug 18–25)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E8EEFC"/>
                </a:solidFill>
                <a:latin typeface="Calibri"/>
              </a:rPr>
              <a:t>3. Aug 26 batch — BS vs Sauce (4 runs)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E8EEFC"/>
                </a:solidFill>
                <a:latin typeface="Calibri"/>
              </a:rPr>
              <a:t>4. TestMu HyperExecute — historical same-branch runs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E8EEFC"/>
                </a:solidFill>
                <a:latin typeface="Calibri"/>
              </a:rPr>
              <a:t>5. Pipeline job execution — best vs worst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E8EEFC"/>
                </a:solidFill>
                <a:latin typeface="Calibri"/>
              </a:rPr>
              <a:t>6. Session-fail caveat (~300s)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E8EEFC"/>
                </a:solidFill>
                <a:latin typeface="Calibri"/>
              </a:rPr>
              <a:t>7. Recommendation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C"/>
                </a:solidFill>
                <a:latin typeface="Calibri"/>
              </a:rPr>
              <a:t>Scope &amp; measurement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212080" cy="219456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What we 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C"/>
                </a:solidFill>
                <a:latin typeface="Calibri"/>
              </a:rPr>
              <a:t>• Quality: pass / 23 performance scenarios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E8EEFC"/>
                </a:solidFill>
                <a:latin typeface="Calibri"/>
              </a:rPr>
              <a:t>• Speed: GHA Onboarding + Imported job wall time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E8EEFC"/>
                </a:solidFill>
                <a:latin typeface="Calibri"/>
              </a:rPr>
              <a:t>• Reliability: session-create failures vs QG fails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E8EEFC"/>
                </a:solidFill>
                <a:latin typeface="Calibri"/>
              </a:rPr>
              <a:t>• Device: Pixel 7 Pro/13 (BS/Sauce) · Pixel 8 Pro/14 (HE)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212080" cy="219456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  <a:latin typeface="Calibri"/>
              </a:rPr>
              <a:t>Vendors in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C"/>
                </a:solidFill>
                <a:latin typeface="Calibri"/>
              </a:rPr>
              <a:t>• BrowserStack — baseline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E8EEFC"/>
                </a:solidFill>
                <a:latin typeface="Calibri"/>
              </a:rPr>
              <a:t>• TestMu HyperExecute — evaluated candidate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E8EEFC"/>
                </a:solidFill>
                <a:latin typeface="Calibri"/>
              </a:rPr>
              <a:t>• TestMu Standard — evaluated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E8EEFC"/>
                </a:solidFill>
                <a:latin typeface="Calibri"/>
              </a:rPr>
              <a:t>• Sauce Private / Cloud — under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698480" cy="237744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C945"/>
                </a:solidFill>
                <a:latin typeface="Calibri"/>
              </a:rPr>
              <a:t>Composite final score (Aug 26 report)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C"/>
                </a:solidFill>
                <a:latin typeface="Calibri"/>
              </a:rPr>
              <a:t>Final = 55% pass rate  +  25% session health  +  20% speed
Speed = relative inverse of test-phase minutes vs slowest lane in the batch.
Session health = 1 − (sessionFail / 23).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C"/>
                </a:solidFill>
                <a:latin typeface="Calibri"/>
              </a:rPr>
              <a:t>Weekly scoreboard · Aug 18–25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0B8"/>
                </a:solidFill>
                <a:latin typeface="Calibri"/>
              </a:rPr>
              <a:t>Averages across the evaluation window on MMQA-TestMu-PoC-HyperExecute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97840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097280"/>
                <a:gridCol w="1280160"/>
                <a:gridCol w="1371600"/>
                <a:gridCol w="1371600"/>
                <a:gridCol w="118872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Vendor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Avg pass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Job best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Job worst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Job avg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BrowserStack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20/23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18.8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25.9m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47.5m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35.4m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TestMu HE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18/23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17.4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30.7m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36.9m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34.3m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TestMu Std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18/23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17.2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28.9m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34.8m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32.5m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Sauce Cloud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under eval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18/23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17.0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30.1m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32.5m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31.3m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Sauce Private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under eval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17/23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16.2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37.4m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40.5m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38.4m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0B8"/>
                </a:solidFill>
                <a:latin typeface="Calibri"/>
              </a:rPr>
              <a:t>Takeaway: BrowserStack leads quality. TestMu HE is the closest evaluated alternative with stable ~34m jobs.
Sauce Cloud is fastest among Sauce lanes but still provisional. Sauce Private is slowest and least reliable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C"/>
                </a:solidFill>
                <a:latin typeface="Calibri"/>
              </a:rPr>
              <a:t>Aug 26 morning · 4 consecutive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0B8"/>
                </a:solidFill>
                <a:latin typeface="Calibri"/>
              </a:rPr>
              <a:t>TestMu skipped · BS + Sauce Private + Sauce Cloud · commit 3988319a · Pixel 7 Pro/13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651760"/>
                <a:gridCol w="2651760"/>
                <a:gridCol w="283464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BrowserStack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Sauce Private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Sauce Cloud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A 32948794353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19/23 · 51.0m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6/23 · 56.3m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17/23 · 28.0m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B 32948816890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18/23 · 63.6m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4/23 · 62.6m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17/23 · 30.9m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C 32948838611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20/23 · 54.8m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3/23 · 59.3m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17/23 · 31.1m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D 32948862510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18/23 · 68.5m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0/23 · 63.7m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15/23 · 30.4m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206240"/>
            <a:ext cx="356616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3566160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Calibri"/>
              </a:rPr>
              <a:t>BrowserStack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C"/>
                </a:solidFill>
                <a:latin typeface="Calibri"/>
              </a:rPr>
              <a:t>Quality floor 18–20/23
Jobs 51–68.5m
Best run C: 20/23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4206240"/>
            <a:ext cx="356616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4206240"/>
            <a:ext cx="356616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Sauce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8920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C"/>
                </a:solidFill>
                <a:latin typeface="Calibri"/>
              </a:rPr>
              <a:t>Stable 15–17/23
Fastest lane ~28–31m
0 session fails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206240"/>
            <a:ext cx="356616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4206240"/>
            <a:ext cx="356616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  <a:latin typeface="Calibri"/>
              </a:rPr>
              <a:t>Sauce Private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8920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C"/>
                </a:solidFill>
                <a:latin typeface="Calibri"/>
              </a:rPr>
              <a:t>Collapse 6→0/23
14–23 session fails
Not usable yet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EFC"/>
                </a:solidFill>
                <a:latin typeface="Calibri"/>
              </a:rPr>
              <a:t>TestMu HyperExecute · historical (same branch)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0B8"/>
                </a:solidFill>
                <a:latin typeface="Calibri"/>
              </a:rPr>
              <a:t>Included because Aug 26 A–D skipped TestMu · Aug 19–20 · Pixel 8 Pro / Android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645920"/>
                <a:gridCol w="2926080"/>
                <a:gridCol w="246888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HE run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GitHub run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Job phase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Session fails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HE-1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32373754440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18/23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36.1m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HE-2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32366480495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18/23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30.7m  ← best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HE-3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32265974787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18/23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33.9m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HE-4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32248728966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18/23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34.3m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389120"/>
            <a:ext cx="10698480" cy="182880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C"/>
                </a:solidFill>
                <a:latin typeface="Calibri"/>
              </a:rPr>
              <a:t>All four sampled HE runs: 18/23, zero session fails.
Job phase band 30.7–36.1m — competitive with Sauce Cloud speed, closer to BS quality.
Caveat: different device/OS and older commits than Aug 26 BS/Sauce — same branch, not same dispatch.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C"/>
                </a:solidFill>
                <a:latin typeface="Calibri"/>
              </a:rPr>
              <a:t>Pipeline job execution · best vs worst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0B8"/>
                </a:solidFill>
                <a:latin typeface="Calibri"/>
              </a:rPr>
              <a:t>GHA wall time = Onboarding job + Imported Wallet job (per lane)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94560"/>
                <a:gridCol w="219456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Lane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Best job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Worst job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Spread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6C945"/>
                          </a:solidFill>
                          <a:latin typeface="Calibri"/>
                        </a:defRPr>
                      </a:pPr>
                      <a:r>
                        <a:t>Avg</a:t>
                      </a:r>
                    </a:p>
                  </a:txBody>
                  <a:tcPr>
                    <a:solidFill>
                      <a:srgbClr val="0E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Sauce Cloud (Aug 26)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28.0m (A)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31.1m (C)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3.1m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~30m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TestMu HE (hist)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30.7m (HE-2)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36.1m (HE-1)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5.4m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~34m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BrowserStack (Aug 26)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51.0m (A)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68.5m (D)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17.5m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~59m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Sauce Private (Aug 26)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56.3m (A)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63.7m (D)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7.4m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8EEFC"/>
                          </a:solidFill>
                          <a:latin typeface="Calibri"/>
                        </a:defRPr>
                      </a:pPr>
                      <a:r>
                        <a:t>~60m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480560"/>
            <a:ext cx="5212080" cy="173736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Full workflow (Aug 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C"/>
                </a:solidFill>
                <a:latin typeface="Calibri"/>
              </a:rPr>
              <a:t>Fastest dispatch → Aggregate:
Run A · 62.8 min
Slowest: Run D · 89.5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480560"/>
            <a:ext cx="5212080" cy="173736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663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Speed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0749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C"/>
                </a:solidFill>
                <a:latin typeface="Calibri"/>
              </a:rPr>
              <a:t>1. Sauce Cloud
2. TestMu HE
3. BrowserStack
4. Sauce Private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C"/>
                </a:solidFill>
                <a:latin typeface="Calibri"/>
              </a:rPr>
              <a:t>Important: ~300s is not an app timer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47548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923C"/>
                </a:solidFill>
                <a:latin typeface="Calibri"/>
              </a:rPr>
              <a:t>SESSION FAIL / “no session”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C"/>
                </a:solidFill>
                <a:latin typeface="Calibri"/>
              </a:rPr>
              <a:t>Repeated ~300 second values are Playwright wall-clock after the provider failed to create a WebDriver session.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E8EE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E8EEFC"/>
                </a:solidFill>
                <a:latin typeface="Calibri"/>
              </a:rPr>
              <a:t>• Sauce: POST .../wd/hub/session aborted (~5 min)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E8EEFC"/>
                </a:solidFill>
                <a:latin typeface="Calibri"/>
              </a:rPr>
              <a:t>• Matches connectionRetryTimeout: 300_000 in SauceLabsConfigBuilder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E8EEFC"/>
                </a:solidFill>
                <a:latin typeface="Calibri"/>
              </a:rPr>
              <a:t>• No step metrics / quality gates collected for those cases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E8EEFC"/>
                </a:solidFill>
                <a:latin typeface="Calibri"/>
              </a:rPr>
              <a:t>• Inflates job duration — not a signal of app performance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E8EEFC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E8EEFC"/>
                </a:solidFill>
                <a:latin typeface="Calibri"/>
              </a:rPr>
              <a:t>Aug 26: Sauce Private dominated by session fails (14→23). Sauce Cloud had 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C"/>
                </a:solidFill>
                <a:latin typeface="Calibri"/>
              </a:rPr>
              <a:t>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164592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Calibri"/>
              </a:rPr>
              <a:t>Best alternative to BrowserStack: TestMu HyperExecute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C"/>
                </a:solidFill>
                <a:latin typeface="Calibri"/>
              </a:rPr>
              <a:t>Closest quality (week avg 17.4 vs BS 18.8), stable 18/23 on sampled HE runs, competitive job times (~31–36m), already the PoC focus.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697480" cy="29260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2697480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#1 Keep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EFC"/>
                </a:solidFill>
                <a:latin typeface="Calibri"/>
              </a:rPr>
              <a:t>BrowserStack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0B8"/>
                </a:solidFill>
                <a:latin typeface="Calibri"/>
              </a:rPr>
              <a:t>Baseline quality leader
Keep as reference lane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108960"/>
            <a:ext cx="2697480" cy="29260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3108960"/>
            <a:ext cx="269748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#2 Adopt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6576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EFC"/>
                </a:solidFill>
                <a:latin typeface="Calibri"/>
              </a:rPr>
              <a:t>TestMu 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20624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0B8"/>
                </a:solidFill>
                <a:latin typeface="Calibri"/>
              </a:rPr>
              <a:t>Primary BS alternative
Continue HE PoC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108960"/>
            <a:ext cx="2697480" cy="29260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108960"/>
            <a:ext cx="269748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#3 Watch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6576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EFC"/>
                </a:solidFill>
                <a:latin typeface="Calibri"/>
              </a:rPr>
              <a:t>Sauce 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0624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0B8"/>
                </a:solidFill>
                <a:latin typeface="Calibri"/>
              </a:rPr>
              <a:t>Fast &amp; decent quality
Still under evaluation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3108960"/>
            <a:ext cx="2697480" cy="29260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3108960"/>
            <a:ext cx="269748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alibri"/>
              </a:rPr>
              <a:t>#4 Pause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6576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EFC"/>
                </a:solidFill>
                <a:latin typeface="Calibri"/>
              </a:rPr>
              <a:t>Sauce Private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20624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0B8"/>
                </a:solidFill>
                <a:latin typeface="Calibri"/>
              </a:rPr>
              <a:t>Session-fail collapse
Not decision-ready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C"/>
                </a:solidFill>
                <a:latin typeface="Calibri"/>
              </a:rPr>
              <a:t>Next steps &amp;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486400" cy="47548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C945"/>
                </a:solidFill>
                <a:latin typeface="Calibri"/>
              </a:rPr>
              <a:t>Suggested follow-ups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C"/>
                </a:solidFill>
                <a:latin typeface="Calibri"/>
              </a:rPr>
              <a:t>1. Re-run Aug 26-style matrix with TestMu HE enabled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E8EEFC"/>
                </a:solidFill>
                <a:latin typeface="Calibri"/>
              </a:rPr>
              <a:t>2. Keep BrowserStack as baseline on same commit/device when possible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E8EEFC"/>
                </a:solidFill>
                <a:latin typeface="Calibri"/>
              </a:rPr>
              <a:t>3. Continue Sauce Cloud eval; hold Sauce Private until session capacity is stable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E8EEFC"/>
                </a:solidFill>
                <a:latin typeface="Calibri"/>
              </a:rPr>
              <a:t>4. Treat ~300s cells as infra noise in any vendor review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E8EEFC"/>
                </a:solidFill>
                <a:latin typeface="Calibri"/>
              </a:rPr>
              <a:t>5. Prefer HE over Standard for TestMu candidate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097280"/>
            <a:ext cx="4937760" cy="47548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4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HTML reports in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C"/>
                </a:solidFill>
                <a:latin typeface="Calibri"/>
              </a:rPr>
              <a:t>• aug26-four-run-vendor-compare.html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E8EEFC"/>
                </a:solidFill>
                <a:latin typeface="Calibri"/>
              </a:rPr>
              <a:t>• vendor-scoreboard.html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E8EEFC"/>
                </a:solidFill>
                <a:latin typeface="Calibri"/>
              </a:rPr>
              <a:t>• week-vendor-runs-review.html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E8EEFC"/>
                </a:solidFill>
                <a:latin typeface="Calibri"/>
              </a:rPr>
              <a:t>• sauce-aug25-triple-compare.html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E8EEFC"/>
                </a:solidFill>
                <a:latin typeface="Calibri"/>
              </a:rPr>
              <a:t>• sauce-aug25-triple-compare-2.html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E8EEFC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E8EEFC"/>
                </a:solidFill>
                <a:latin typeface="Calibri"/>
              </a:rPr>
              <a:t>Branch: MMQA-TestMu-PoC-HyperExecute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E8EEFC"/>
                </a:solidFill>
                <a:latin typeface="Calibri"/>
              </a:rPr>
              <a:t>PR: metamask-mobile #33909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228600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EFC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3A0B8"/>
                </a:solidFill>
                <a:latin typeface="Calibri"/>
              </a:rPr>
              <a:t>Summary: keep BrowserStack · advance TestMu HyperExecute · watch Sauce Cloud · pause Sauce Private.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